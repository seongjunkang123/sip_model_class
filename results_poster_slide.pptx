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BreathNet: Synthetic VOC Data Generation &amp; Disease Classification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49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 (WGAN-GP)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349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47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feature-condition pairs tested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at α = 0.05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3% before optimization)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Standard CTGAN avg KS ≈ 0.48 — ours significantly lower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5349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20440"/>
            <a:ext cx="54864" cy="1600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 Adversarial Accuracy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Frac.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Asthma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Bronchi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31520" y="48920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NNAA ≈ 0.50 (random chance). Lower = synthetic is indistinguishable from real.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303520"/>
            <a:ext cx="5349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5303520"/>
            <a:ext cx="54864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5376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 Training Metrics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56509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Min G Loss:  </a:t>
            </a:r>
            <a:pPr indent="0" marL="0">
              <a:buNone/>
            </a:pPr>
            <a:r>
              <a:rPr lang="en-US" sz="1100" b="1" dirty="0">
                <a:solidFill>
                  <a:srgbClr val="1A2B33"/>
                </a:solidFill>
              </a:rPr>
              <a:t>2.23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Min D Loss:  </a:t>
            </a:r>
            <a:pPr indent="0" marL="0">
              <a:buNone/>
            </a:pPr>
            <a:r>
              <a:rPr lang="en-US" sz="1100" b="1" dirty="0">
                <a:solidFill>
                  <a:srgbClr val="1A2B33"/>
                </a:solidFill>
              </a:rPr>
              <a:t>-1.28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GP converged to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~0.01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00400" y="56509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Avg G Loss:  </a:t>
            </a:r>
            <a:pPr indent="0" marL="0">
              <a:buNone/>
            </a:pPr>
            <a:r>
              <a:rPr lang="en-US" sz="1100" b="1" dirty="0">
                <a:solidFill>
                  <a:srgbClr val="1A2B33"/>
                </a:solidFill>
              </a:rPr>
              <a:t>5.58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Avg D Loss:  </a:t>
            </a:r>
            <a:pPr indent="0" marL="0">
              <a:buNone/>
            </a:pPr>
            <a:r>
              <a:rPr lang="en-US" sz="1100" b="1" dirty="0">
                <a:solidFill>
                  <a:srgbClr val="1A2B33"/>
                </a:solidFill>
              </a:rPr>
              <a:t>-0.17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Epochs trained:  </a:t>
            </a:r>
            <a:pPr indent="0" marL="0">
              <a:buNone/>
            </a:pPr>
            <a:r>
              <a:rPr lang="en-US" sz="1100" b="1" dirty="0">
                <a:solidFill>
                  <a:srgbClr val="1A2B33"/>
                </a:solidFill>
              </a:rPr>
              <a:t>2000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55080" y="1234440"/>
            <a:ext cx="5349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6537960" y="1234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55080" y="187452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55080" y="1874520"/>
            <a:ext cx="54864" cy="1965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/>
          <p:nvPr/>
        </p:nvSpPr>
        <p:spPr>
          <a:xfrm>
            <a:off x="662940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6294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31" name="Text 28"/>
          <p:cNvSpPr/>
          <p:nvPr/>
        </p:nvSpPr>
        <p:spPr>
          <a:xfrm>
            <a:off x="87325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73252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 std across all 5 folds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971800"/>
          <a:ext cx="47548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280160"/>
                <a:gridCol w="14630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355080" y="4251960"/>
            <a:ext cx="5349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355080" y="4251960"/>
            <a:ext cx="54864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2"/>
          <p:cNvSpPr/>
          <p:nvPr/>
        </p:nvSpPr>
        <p:spPr>
          <a:xfrm>
            <a:off x="6629400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Analysis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62940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Train accuracy:   </a:t>
            </a:r>
            <a:pPr indent="0" marL="0">
              <a:buNone/>
            </a:pPr>
            <a:r>
              <a:rPr lang="en-US" sz="1100" b="1" dirty="0">
                <a:solidFill>
                  <a:srgbClr val="1A2B33"/>
                </a:solidFill>
              </a:rPr>
              <a:t>99.8%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Val accuracy:   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100.0%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</a:rPr>
              <a:t>Overfitting gap: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-0.18%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 (no overfitting)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355080" y="5303520"/>
            <a:ext cx="5349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355080" y="5303520"/>
            <a:ext cx="54864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Text 36"/>
          <p:cNvSpPr/>
          <p:nvPr/>
        </p:nvSpPr>
        <p:spPr>
          <a:xfrm>
            <a:off x="6629400" y="5376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Synthetic Data Augmentation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6629400" y="5669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629400" y="5852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72.1%</a:t>
            </a:r>
            <a:endParaRPr lang="en-US" sz="2800" dirty="0"/>
          </a:p>
        </p:txBody>
      </p:sp>
      <p:sp>
        <p:nvSpPr>
          <p:cNvPr id="43" name="Text 39"/>
          <p:cNvSpPr/>
          <p:nvPr/>
        </p:nvSpPr>
        <p:spPr>
          <a:xfrm>
            <a:off x="8458200" y="5852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4" name="Text 40"/>
          <p:cNvSpPr/>
          <p:nvPr/>
        </p:nvSpPr>
        <p:spPr>
          <a:xfrm>
            <a:off x="8915400" y="5669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synthetic augmentation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8915400" y="5852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2800" dirty="0"/>
          </a:p>
        </p:txBody>
      </p:sp>
      <p:sp>
        <p:nvSpPr>
          <p:cNvPr id="46" name="Text 42"/>
          <p:cNvSpPr/>
          <p:nvPr/>
        </p:nvSpPr>
        <p:spPr>
          <a:xfrm>
            <a:off x="6629400" y="61722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+27.9 percentage points improvement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BreathNet Results</dc:title>
  <dc:subject>PptxGenJS Presentation</dc:subject>
  <dc:creator>Ishaan</dc:creator>
  <cp:lastModifiedBy>Ishaan</cp:lastModifiedBy>
  <cp:revision>1</cp:revision>
  <dcterms:created xsi:type="dcterms:W3CDTF">2026-02-26T11:36:44Z</dcterms:created>
  <dcterms:modified xsi:type="dcterms:W3CDTF">2026-02-26T11:36:44Z</dcterms:modified>
</cp:coreProperties>
</file>